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E5C8A"/>
                </a:solidFill>
              </a:defRPr>
            </a:pPr>
            <a:r>
              <a:t>Quarterly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4A5568"/>
                </a:solidFill>
              </a:defRPr>
            </a:pPr>
            <a:r>
              <a:t>{{CLIENT_NAME}}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A5568"/>
                </a:solidFill>
              </a:defRPr>
            </a:pPr>
            <a:r>
              <a:t>{{REVIEW_PERIOD}}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{{SAME_DAY_RATE}}% of your team's IT issues were completely resolved on the same day.</a:t>
            </a:r>
          </a:p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When employees reached out, we began working on their issues in an average of {{AVG_FIRST_RESPONSE}}.</a:t>
            </a:r>
          </a:p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Critical business-halting emergencies were resolved in {{CRITICAL_RES_TIME}} on average.</a:t>
            </a:r>
          </a:p>
          <a:p>
            <a:pPr>
              <a:spcAft>
                <a:spcPts val="2400"/>
              </a:spcAft>
              <a:defRPr sz="2200">
                <a:solidFill>
                  <a:srgbClr val="4A5568"/>
                </a:solidFill>
              </a:defRPr>
            </a:pPr>
            <a:r>
              <a:t>• We managed {{TICKET_COUNT}} total IT events this quarter to keep your business running.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DBEAFE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553212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E5C8A"/>
                </a:solidFill>
              </a:defRPr>
            </a:pPr>
            <a:r>
              <a:t>Industry Sector: {{BEA_INDUSTRY}}  |  GDP Value Added: {{BEA_LATEST_VALUE}} ({{BEA_LATEST_PERIOD}})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8932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A5568"/>
                </a:solidFill>
              </a:defRPr>
            </a:pPr>
            <a:r>
              <a:t>QoQ Growth: {{BEA_QOQ_GROWTH}}  |  YoY Growth: {{BEA_YOY_GROWTH}}  |  {{BEA_TREND_LABEL}}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Key Business Impact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Same-Day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5C8A"/>
                </a:solidFill>
              </a:defRPr>
            </a:pPr>
            <a:r>
              <a:t>{{SAME_DAY_RATE}}%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Avg First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5C8A"/>
                </a:solidFill>
              </a:defRPr>
            </a:pPr>
            <a:r>
              <a:t>{{AVG_FIRST_RESPONSE}}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286000"/>
            <a:ext cx="2011680" cy="2286000"/>
          </a:xfrm>
          <a:prstGeom prst="rect">
            <a:avLst/>
          </a:prstGeom>
          <a:solidFill>
            <a:srgbClr val="E2E8F0"/>
          </a:solidFill>
          <a:ln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4688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A5568"/>
                </a:solidFill>
              </a:defRPr>
            </a:pPr>
            <a:r>
              <a:t>Critical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200400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5C8A"/>
                </a:solidFill>
              </a:defRPr>
            </a:pPr>
            <a:r>
              <a:t>{{CRITICAL_RES_TIME}}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5C8A"/>
                </a:solidFill>
              </a:defRPr>
            </a:pPr>
            <a:r>
              <a:t>Support Type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A5568"/>
                </a:solidFill>
              </a:defRPr>
            </a:pPr>
            <a:r>
              <a:t>Proactive Maintenance vs Reactive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2286000"/>
            <a:ext cx="5486400" cy="3657600"/>
          </a:xfrm>
          <a:prstGeom prst="rect">
            <a:avLst/>
          </a:prstGeom>
          <a:solidFill>
            <a:srgbClr val="F0F0F0"/>
          </a:solidFill>
          <a:ln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6576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A5568"/>
                </a:solidFill>
              </a:defRPr>
            </a:pPr>
            <a:r>
              <a:t>{{CHART_PLACEHOLDER}}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System Stability (Metric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286000"/>
            <a:ext cx="3200400" cy="182880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Proactive Work</a:t>
            </a:r>
          </a:p>
          <a:p>
            <a:r>
              <a:t>{{PROACTIVE_PERCENT}}%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286000"/>
            <a:ext cx="3200400" cy="1828800"/>
          </a:xfrm>
          <a:prstGeom prst="rect">
            <a:avLst/>
          </a:prstGeom>
          <a:solidFill>
            <a:srgbClr val="EF444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46888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Reactive Issues</a:t>
            </a:r>
          </a:p>
          <a:p>
            <a:r>
              <a:t>{{REACTIVE_PERCENT}}%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4A5568"/>
                </a:solidFill>
              </a:defRPr>
            </a:pPr>
            <a:r>
              <a:t>We actively prevent downtime before it impacts your employees. A higher proactive percentage means a more stable network.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Responsiveness &amp; Business Continuity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Speed to First Response: {{AVG_FIRST_RESPONSE}}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Same-Day Resolution Rate: {{SAME_DAY_RATE}}%</a:t>
            </a:r>
          </a:p>
          <a:p>
            <a:pPr>
              <a:spcAft>
                <a:spcPts val="3000"/>
              </a:spcAft>
              <a:defRPr sz="2600">
                <a:solidFill>
                  <a:srgbClr val="4A5568"/>
                </a:solidFill>
              </a:defRPr>
            </a:pPr>
            <a:r>
              <a:t>• Critical Crisis Resolution Time: {{CRITICAL_RES_TIME}}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E5C8A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97280"/>
            <a:ext cx="7589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{{REC_1_TITLE}}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{{REC_1_RATIONALE}}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7589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{{REC_2_TITLE}}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{{REC_2_RATIONALE}}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365760" cy="365760"/>
          </a:xfrm>
          <a:prstGeom prst="rect">
            <a:avLst/>
          </a:prstGeom>
          <a:solidFill>
            <a:srgbClr val="2E5C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260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926080"/>
            <a:ext cx="7589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5C8A"/>
                </a:solidFill>
              </a:defRPr>
            </a:pPr>
            <a:r>
              <a:t>{{REC_3_TITLE}}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310128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A5568"/>
                </a:solidFill>
              </a:defRPr>
            </a:pPr>
            <a:r>
              <a:t>{{REC_3_RATIONALE}}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E5C8A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4A5568"/>
                </a:solidFill>
              </a:defRPr>
            </a:pPr>
            <a:r>
              <a:t>Questions? Contact your account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4A5568"/>
                </a:solidFill>
              </a:defRPr>
            </a:pPr>
            <a:r>
              <a:t>{{MSP_CONTACT_INFO}}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