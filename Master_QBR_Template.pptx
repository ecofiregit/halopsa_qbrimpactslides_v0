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242E65"/>
                </a:solidFill>
              </a:defRPr>
            </a:pPr>
            <a:r>
              <a:t>Quarterly Business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38328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4A5568"/>
                </a:solidFill>
              </a:defRPr>
            </a:pPr>
            <a:r>
              <a:t>{{CLIENT_NAME}}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4A5568"/>
                </a:solidFill>
              </a:defRPr>
            </a:pPr>
            <a:r>
              <a:t>{{REVIEW_PERIOD}}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42E65"/>
                </a:solidFill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  <a:defRPr sz="2200">
                <a:solidFill>
                  <a:srgbClr val="4A5568"/>
                </a:solidFill>
              </a:defRPr>
            </a:pPr>
            <a:r>
              <a:t>• {{SAME_DAY_RATE}}% of your team's IT issues were completely resolved on the same day.</a:t>
            </a:r>
          </a:p>
          <a:p>
            <a:pPr>
              <a:spcAft>
                <a:spcPts val="2400"/>
              </a:spcAft>
              <a:defRPr sz="2200">
                <a:solidFill>
                  <a:srgbClr val="4A5568"/>
                </a:solidFill>
              </a:defRPr>
            </a:pPr>
            <a:r>
              <a:t>• When employees reached out, we began working on their issues in an average of {{AVG_FIRST_RESPONSE}}.</a:t>
            </a:r>
          </a:p>
          <a:p>
            <a:pPr>
              <a:spcAft>
                <a:spcPts val="2400"/>
              </a:spcAft>
              <a:defRPr sz="2200">
                <a:solidFill>
                  <a:srgbClr val="4A5568"/>
                </a:solidFill>
              </a:defRPr>
            </a:pPr>
            <a:r>
              <a:t>• Critical business-halting emergencies were resolved in {{CRITICAL_RES_TIME}} on average.</a:t>
            </a:r>
          </a:p>
          <a:p>
            <a:pPr>
              <a:spcAft>
                <a:spcPts val="2400"/>
              </a:spcAft>
              <a:defRPr sz="2200">
                <a:solidFill>
                  <a:srgbClr val="4A5568"/>
                </a:solidFill>
              </a:defRPr>
            </a:pPr>
            <a:r>
              <a:t>• We managed {{TICKET_COUNT}} total IT events this quarter to keep your business running.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5486400"/>
            <a:ext cx="8229600" cy="1097280"/>
          </a:xfrm>
          <a:prstGeom prst="rect">
            <a:avLst/>
          </a:prstGeom>
          <a:solidFill>
            <a:srgbClr val="DBEAFE"/>
          </a:solidFill>
          <a:ln>
            <a:solidFill>
              <a:srgbClr val="242E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5532120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42E65"/>
                </a:solidFill>
              </a:defRPr>
            </a:pPr>
            <a:r>
              <a:t>Industry Sector: {{BEA_INDUSTRY}}  |  GDP Value Added: {{BEA_LATEST_VALUE}} ({{BEA_LATEST_PERIOD}})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989320"/>
            <a:ext cx="79552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A5568"/>
                </a:solidFill>
              </a:defRPr>
            </a:pPr>
            <a:r>
              <a:t>QoQ Growth: {{BEA_QOQ_GROWTH}}  |  YoY Growth: {{BEA_YOY_GROWTH}}  |  {{BEA_TREND_LABEL}}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42E65"/>
                </a:solidFill>
              </a:defRPr>
            </a:pPr>
            <a:r>
              <a:t>Key Business Impact Metrics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2286000"/>
            <a:ext cx="2011680" cy="2286000"/>
          </a:xfrm>
          <a:prstGeom prst="rect">
            <a:avLst/>
          </a:prstGeom>
          <a:solidFill>
            <a:srgbClr val="E2E8F0"/>
          </a:solidFill>
          <a:ln>
            <a:solidFill>
              <a:srgbClr val="242E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4A5568"/>
                </a:solidFill>
              </a:defRPr>
            </a:pPr>
            <a:r>
              <a:t>Same-Day Resolution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2011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42E65"/>
                </a:solidFill>
              </a:defRPr>
            </a:pPr>
            <a:r>
              <a:t>{{SAME_DAY_RATE}}%</a:t>
            </a:r>
          </a:p>
        </p:txBody>
      </p:sp>
      <p:sp>
        <p:nvSpPr>
          <p:cNvPr id="6" name="Rectangle 5"/>
          <p:cNvSpPr/>
          <p:nvPr/>
        </p:nvSpPr>
        <p:spPr>
          <a:xfrm>
            <a:off x="3383280" y="2286000"/>
            <a:ext cx="2011680" cy="2286000"/>
          </a:xfrm>
          <a:prstGeom prst="rect">
            <a:avLst/>
          </a:prstGeom>
          <a:solidFill>
            <a:srgbClr val="E2E8F0"/>
          </a:solidFill>
          <a:ln>
            <a:solidFill>
              <a:srgbClr val="242E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0" y="2468880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4A5568"/>
                </a:solidFill>
              </a:defRPr>
            </a:pPr>
            <a:r>
              <a:t>Avg First Response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3200400"/>
            <a:ext cx="2011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42E65"/>
                </a:solidFill>
              </a:defRPr>
            </a:pPr>
            <a:r>
              <a:t>{{AVG_FIRST_RESPONSE}}</a:t>
            </a:r>
          </a:p>
        </p:txBody>
      </p:sp>
      <p:sp>
        <p:nvSpPr>
          <p:cNvPr id="9" name="Rectangle 8"/>
          <p:cNvSpPr/>
          <p:nvPr/>
        </p:nvSpPr>
        <p:spPr>
          <a:xfrm>
            <a:off x="5852160" y="2286000"/>
            <a:ext cx="2011680" cy="2286000"/>
          </a:xfrm>
          <a:prstGeom prst="rect">
            <a:avLst/>
          </a:prstGeom>
          <a:solidFill>
            <a:srgbClr val="E2E8F0"/>
          </a:solidFill>
          <a:ln>
            <a:solidFill>
              <a:srgbClr val="242E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2468880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4A5568"/>
                </a:solidFill>
              </a:defRPr>
            </a:pPr>
            <a:r>
              <a:t>Critical Resolution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3200400"/>
            <a:ext cx="2011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42E65"/>
                </a:solidFill>
              </a:defRPr>
            </a:pPr>
            <a:r>
              <a:t>{{CRITICAL_RES_TIME}}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42E65"/>
                </a:solidFill>
              </a:defRPr>
            </a:pPr>
            <a:r>
              <a:t>Support Type Distribution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4A5568"/>
                </a:solidFill>
              </a:defRPr>
            </a:pPr>
            <a:r>
              <a:t>Proactive Maintenance vs Reactive Support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0" y="2286000"/>
            <a:ext cx="5486400" cy="3657600"/>
          </a:xfrm>
          <a:prstGeom prst="rect">
            <a:avLst/>
          </a:prstGeom>
          <a:solidFill>
            <a:srgbClr val="F0F0F0"/>
          </a:solidFill>
          <a:ln>
            <a:solidFill>
              <a:srgbClr val="4A55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36576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4A5568"/>
                </a:solidFill>
              </a:defRPr>
            </a:pPr>
            <a:r>
              <a:t>{{CHART_PLACEHOLDER}}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42E65"/>
                </a:solidFill>
              </a:defRPr>
            </a:pPr>
            <a:r>
              <a:t>System Stability (Metric 1)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2286000"/>
            <a:ext cx="3200400" cy="1828800"/>
          </a:xfrm>
          <a:prstGeom prst="rect">
            <a:avLst/>
          </a:prstGeom>
          <a:solidFill>
            <a:srgbClr val="22C55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3200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Proactive Work</a:t>
            </a:r>
          </a:p>
          <a:p>
            <a:r>
              <a:t>{{PROACTIVE_PERCENT}}%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286000"/>
            <a:ext cx="3200400" cy="1828800"/>
          </a:xfrm>
          <a:prstGeom prst="rect">
            <a:avLst/>
          </a:prstGeom>
          <a:solidFill>
            <a:srgbClr val="EF444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0" y="2468880"/>
            <a:ext cx="3200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Reactive Issues</a:t>
            </a:r>
          </a:p>
          <a:p>
            <a:r>
              <a:t>{{REACTIVE_PERCENT}}%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4A5568"/>
                </a:solidFill>
              </a:defRPr>
            </a:pPr>
            <a:r>
              <a:t>We actively prevent downtime before it impacts your employees. A higher proactive percentage means a more stable network.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42E65"/>
                </a:solidFill>
              </a:defRPr>
            </a:pPr>
            <a:r>
              <a:t>Responsiveness &amp; Business Continuity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6400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0"/>
              </a:spcAft>
              <a:defRPr sz="2600">
                <a:solidFill>
                  <a:srgbClr val="4A5568"/>
                </a:solidFill>
              </a:defRPr>
            </a:pPr>
            <a:r>
              <a:t>• Speed to First Response: {{AVG_FIRST_RESPONSE}}</a:t>
            </a:r>
          </a:p>
          <a:p>
            <a:pPr>
              <a:spcAft>
                <a:spcPts val="3000"/>
              </a:spcAft>
              <a:defRPr sz="2600">
                <a:solidFill>
                  <a:srgbClr val="4A5568"/>
                </a:solidFill>
              </a:defRPr>
            </a:pPr>
            <a:r>
              <a:t>• Same-Day Resolution Rate: {{SAME_DAY_RATE}}%</a:t>
            </a:r>
          </a:p>
          <a:p>
            <a:pPr>
              <a:spcAft>
                <a:spcPts val="3000"/>
              </a:spcAft>
              <a:defRPr sz="2600">
                <a:solidFill>
                  <a:srgbClr val="4A5568"/>
                </a:solidFill>
              </a:defRPr>
            </a:pPr>
            <a:r>
              <a:t>• Critical Crisis Resolution Time: {{CRITICAL_RES_TIME}}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42E65"/>
                </a:solidFill>
              </a:defRPr>
            </a:pPr>
            <a:r>
              <a:t>Strategic Recommendations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365760" cy="365760"/>
          </a:xfrm>
          <a:prstGeom prst="rect">
            <a:avLst/>
          </a:prstGeom>
          <a:solidFill>
            <a:srgbClr val="242E6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097280"/>
            <a:ext cx="75895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42E65"/>
                </a:solidFill>
              </a:defRPr>
            </a:pPr>
            <a:r>
              <a:t>{{REC_1_TITLE}}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327708"/>
            <a:ext cx="7589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A5568"/>
                </a:solidFill>
              </a:defRPr>
            </a:pPr>
            <a:r>
              <a:t>{{REC_1_RATIONALE}}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45919"/>
            <a:ext cx="365760" cy="365760"/>
          </a:xfrm>
          <a:prstGeom prst="rect">
            <a:avLst/>
          </a:prstGeom>
          <a:solidFill>
            <a:srgbClr val="242E6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645919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645919"/>
            <a:ext cx="75895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42E65"/>
                </a:solidFill>
              </a:defRPr>
            </a:pPr>
            <a:r>
              <a:t>{{REC_2_TITLE}}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876348"/>
            <a:ext cx="7589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A5568"/>
                </a:solidFill>
              </a:defRPr>
            </a:pPr>
            <a:r>
              <a:t>{{REC_2_RATIONALE}}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194560"/>
            <a:ext cx="365760" cy="365760"/>
          </a:xfrm>
          <a:prstGeom prst="rect">
            <a:avLst/>
          </a:prstGeom>
          <a:solidFill>
            <a:srgbClr val="242E6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19456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194560"/>
            <a:ext cx="75895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42E65"/>
                </a:solidFill>
              </a:defRPr>
            </a:pPr>
            <a:r>
              <a:t>{{REC_3_TITLE}}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424988"/>
            <a:ext cx="7589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A5568"/>
                </a:solidFill>
              </a:defRPr>
            </a:pPr>
            <a:r>
              <a:t>{{REC_3_RATIONALE}}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743200"/>
            <a:ext cx="365760" cy="365760"/>
          </a:xfrm>
          <a:prstGeom prst="rect">
            <a:avLst/>
          </a:prstGeom>
          <a:solidFill>
            <a:srgbClr val="242E6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74320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2743200"/>
            <a:ext cx="75895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42E65"/>
                </a:solidFill>
              </a:defRPr>
            </a:pPr>
            <a:r>
              <a:t>{{REC_4_TITLE}}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2973628"/>
            <a:ext cx="7589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A5568"/>
                </a:solidFill>
              </a:defRPr>
            </a:pPr>
            <a:r>
              <a:t>{{REC_4_RATIONALE}}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291839"/>
            <a:ext cx="365760" cy="365760"/>
          </a:xfrm>
          <a:prstGeom prst="rect">
            <a:avLst/>
          </a:prstGeom>
          <a:solidFill>
            <a:srgbClr val="242E6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291839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3291839"/>
            <a:ext cx="75895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42E65"/>
                </a:solidFill>
              </a:defRPr>
            </a:pPr>
            <a:r>
              <a:t>{{REC_5_TITLE}}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3522268"/>
            <a:ext cx="7589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A5568"/>
                </a:solidFill>
              </a:defRPr>
            </a:pPr>
            <a:r>
              <a:t>{{REC_5_RATIONALE}}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840480"/>
            <a:ext cx="365760" cy="365760"/>
          </a:xfrm>
          <a:prstGeom prst="rect">
            <a:avLst/>
          </a:prstGeom>
          <a:solidFill>
            <a:srgbClr val="242E6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84048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3840480"/>
            <a:ext cx="75895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42E65"/>
                </a:solidFill>
              </a:defRPr>
            </a:pPr>
            <a:r>
              <a:t>{{REC_6_TITLE}}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4070908"/>
            <a:ext cx="7589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A5568"/>
                </a:solidFill>
              </a:defRPr>
            </a:pPr>
            <a:r>
              <a:t>{{REC_6_RATIONALE}}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389120"/>
            <a:ext cx="365760" cy="365760"/>
          </a:xfrm>
          <a:prstGeom prst="rect">
            <a:avLst/>
          </a:prstGeom>
          <a:solidFill>
            <a:srgbClr val="242E6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438912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4389120"/>
            <a:ext cx="75895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42E65"/>
                </a:solidFill>
              </a:defRPr>
            </a:pPr>
            <a:r>
              <a:t>{{REC_7_TITLE}}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4619548"/>
            <a:ext cx="7589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A5568"/>
                </a:solidFill>
              </a:defRPr>
            </a:pPr>
            <a:r>
              <a:t>{{REC_7_RATIONALE}}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4937760"/>
            <a:ext cx="365760" cy="365760"/>
          </a:xfrm>
          <a:prstGeom prst="rect">
            <a:avLst/>
          </a:prstGeom>
          <a:solidFill>
            <a:srgbClr val="242E6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493776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" y="4937760"/>
            <a:ext cx="75895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42E65"/>
                </a:solidFill>
              </a:defRPr>
            </a:pPr>
            <a:r>
              <a:t>{{REC_8_TITLE}}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" y="5168188"/>
            <a:ext cx="7589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A5568"/>
                </a:solidFill>
              </a:defRPr>
            </a:pPr>
            <a:r>
              <a:t>{{REC_8_RATIONALE}}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5486400"/>
            <a:ext cx="365760" cy="365760"/>
          </a:xfrm>
          <a:prstGeom prst="rect">
            <a:avLst/>
          </a:prstGeom>
          <a:solidFill>
            <a:srgbClr val="242E6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548640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" y="5486400"/>
            <a:ext cx="75895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42E65"/>
                </a:solidFill>
              </a:defRPr>
            </a:pPr>
            <a:r>
              <a:t>{{REC_9_TITLE}}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5840" y="5716828"/>
            <a:ext cx="7589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A5568"/>
                </a:solidFill>
              </a:defRPr>
            </a:pPr>
            <a:r>
              <a:t>{{REC_9_RATIONALE}}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6035040"/>
            <a:ext cx="365760" cy="365760"/>
          </a:xfrm>
          <a:prstGeom prst="rect">
            <a:avLst/>
          </a:prstGeom>
          <a:solidFill>
            <a:srgbClr val="242E6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603504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5840" y="6035040"/>
            <a:ext cx="75895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42E65"/>
                </a:solidFill>
              </a:defRPr>
            </a:pPr>
            <a:r>
              <a:t>{{REC_10_TITLE}}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5840" y="6265468"/>
            <a:ext cx="7589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A5568"/>
                </a:solidFill>
              </a:defRPr>
            </a:pPr>
            <a:r>
              <a:t>{{REC_10_RATIONALE}}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242E65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4A5568"/>
                </a:solidFill>
              </a:defRPr>
            </a:pPr>
            <a:r>
              <a:t>Questions? Contact your account manager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4A5568"/>
                </a:solidFill>
              </a:defRPr>
            </a:pPr>
            <a:r>
              <a:t>{{MSP_CONTACT_INFO}}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