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42E65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E65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{{SAME_DAY_RATE}}% of your team's IT issues were completely resolved on the same day.</a:t>
            </a:r>
          </a:p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When employees reached out, we began working on their issues in an average of {{AVG_FIRST_RESPONSE}}.</a:t>
            </a:r>
          </a:p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Critical business-halting emergencies were resolved in {{CRITICAL_RES_TIME}} on average.</a:t>
            </a:r>
          </a:p>
          <a:p>
            <a:pPr>
              <a:spcAft>
                <a:spcPts val="1400"/>
              </a:spcAft>
              <a:defRPr sz="2200">
                <a:solidFill>
                  <a:srgbClr val="4A5568"/>
                </a:solidFill>
              </a:defRPr>
            </a:pPr>
            <a:r>
              <a:t>• We managed {{TICKET_COUNT}} total IT events this quarter to keep your business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Business Impact: {{PRODUCTIVITY_HOURS_LOST}} productivity hours at risk | Est. cost: {{ESTIMATED_COST}}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0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</a:defRPr>
            </a:pPr>
            <a:r>
              <a:t>{{RISK_STATEMENT}}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852160"/>
            <a:ext cx="8229600" cy="1097280"/>
          </a:xfrm>
          <a:prstGeom prst="rect">
            <a:avLst/>
          </a:prstGeom>
          <a:solidFill>
            <a:srgbClr val="DBEAFE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89788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2E65"/>
                </a:solidFill>
              </a:defRPr>
            </a:pPr>
            <a:r>
              <a:t>Industry Sector: {{BEA_INDUSTRY}}  |  GDP Value Added: {{BEA_LATEST_VALUE}} ({{BEA_LATEST_PERIOD}})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35508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A5568"/>
                </a:solidFill>
              </a:defRPr>
            </a:pPr>
            <a:r>
              <a:t>QoQ Growth: {{BEA_QOQ_GROWTH}}  |  YoY Growth: {{BEA_YOY_GROWTH}}  |  {{BEA_TREND_LABEL}}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E65"/>
                </a:solidFill>
              </a:defRPr>
            </a:pPr>
            <a:r>
              <a:t>Key Business Impact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Same-Day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42E65"/>
                </a:solidFill>
              </a:defRPr>
            </a:pPr>
            <a:r>
              <a:t>{{SAME_DAY_RATE}}%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Avg First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42E65"/>
                </a:solidFill>
              </a:defRPr>
            </a:pPr>
            <a:r>
              <a:t>{{AVG_FIRST_RESPONSE}}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42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Critical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42E65"/>
                </a:solidFill>
              </a:defRPr>
            </a:pPr>
            <a:r>
              <a:t>{{CRITICAL_RES_TIME}}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E65"/>
                </a:solidFill>
              </a:defRPr>
            </a:pPr>
            <a:r>
              <a:t>Support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Maintenance vs Reactive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286000"/>
            <a:ext cx="5486400" cy="3657600"/>
          </a:xfrm>
          <a:prstGeom prst="rect">
            <a:avLst/>
          </a:prstGeom>
          <a:solidFill>
            <a:srgbClr val="F0F0F0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42E65"/>
                </a:solidFill>
              </a:defRPr>
            </a:pPr>
            <a:r>
              <a:t>System Stability (Metric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We actively prevent downtime before it impacts your employees. A higher proactive percentage means a more stable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42E65"/>
                </a:solidFill>
              </a:defRPr>
            </a:pPr>
            <a:r>
              <a:t>Responsiveness &amp; Business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Speed to First Response: {{AVG_FIRST_RESPONSE}}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Same-Day Resolution Rate: {{SAME_DAY_RATE}}%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Crisis Resolution Time: {{CRITICAL_RES_TIME}}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42E65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2626"/>
                </a:solidFill>
              </a:defRPr>
            </a:pPr>
            <a:r>
              <a:t>Risk Spotlight: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{{TOP_RISK_1}}</a:t>
            </a:r>
          </a:p>
          <a:p>
            <a:pPr>
              <a:defRPr sz="1100">
                <a:solidFill>
                  <a:srgbClr val="4A5568"/>
                </a:solidFill>
              </a:defRPr>
            </a:pPr>
            <a:r>
              <a:t>{{TOP_RISK_2}}</a:t>
            </a:r>
          </a:p>
          <a:p>
            <a:pPr>
              <a:defRPr sz="1100">
                <a:solidFill>
                  <a:srgbClr val="4A5568"/>
                </a:solidFill>
              </a:defRPr>
            </a:pPr>
            <a:r>
              <a:t>{{TOP_RISK_3}}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{{REC_1_TITLE}}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037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{{REC_1_RATIONALE}}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{{REC_2_TITLE}}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609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{{REC_2_RATIONALE}}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260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{{REC_3_TITLE}}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181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{{REC_3_RATIONALE}}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83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{{REC_4_TITLE}}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753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{{REC_4_RATIONALE}}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404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{{REC_5_TITLE}}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0325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{{REC_5_RATIONALE}}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976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{{REC_6_TITLE}}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4897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{{REC_6_RATIONALE}}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7548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7548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548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{{REC_7_TITLE}}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9469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{{REC_7_RATIONALE}}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2120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212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2120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{{REC_8_TITLE}}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4041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{{REC_8_RATIONALE}}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6692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{{REC_9_TITLE}}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8613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{{REC_9_RATIONALE}}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126480"/>
            <a:ext cx="365760" cy="365760"/>
          </a:xfrm>
          <a:prstGeom prst="rect">
            <a:avLst/>
          </a:prstGeom>
          <a:solidFill>
            <a:srgbClr val="242E6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126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6126480"/>
            <a:ext cx="7589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42E65"/>
                </a:solidFill>
              </a:defRPr>
            </a:pPr>
            <a:r>
              <a:t>{{REC_10_TITLE}}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318504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{{REC_10_RATIONALE}}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42E65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