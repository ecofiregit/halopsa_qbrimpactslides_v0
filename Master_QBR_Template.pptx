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42E65"/>
                </a:solidFill>
              </a:defRPr>
            </a:pPr>
            <a:r>
              <a:t>Quarterly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4A5568"/>
                </a:solidFill>
              </a:defRPr>
            </a:pPr>
            <a:r>
              <a:t>{{CLIENT_NAME}}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A5568"/>
                </a:solidFill>
              </a:defRPr>
            </a:pPr>
            <a:r>
              <a:t>{{REVIEW_PERIOD}}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42E65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4A5568"/>
                </a:solidFill>
              </a:defRPr>
            </a:pPr>
            <a:r>
              <a:t>• {{SAME_DAY_RATE}}% of your team's IT issues were completely resolved on the same day.</a:t>
            </a:r>
          </a:p>
          <a:p>
            <a:pPr>
              <a:spcAft>
                <a:spcPts val="1400"/>
              </a:spcAft>
              <a:defRPr sz="2200">
                <a:solidFill>
                  <a:srgbClr val="4A5568"/>
                </a:solidFill>
              </a:defRPr>
            </a:pPr>
            <a:r>
              <a:t>• When employees reached out, we began working on their issues in an average of {{AVG_FIRST_RESPONSE}}.</a:t>
            </a:r>
          </a:p>
          <a:p>
            <a:pPr>
              <a:spcAft>
                <a:spcPts val="1400"/>
              </a:spcAft>
              <a:defRPr sz="2200">
                <a:solidFill>
                  <a:srgbClr val="4A5568"/>
                </a:solidFill>
              </a:defRPr>
            </a:pPr>
            <a:r>
              <a:t>• Critical business-halting emergencies were resolved in {{CRITICAL_RES_TIME}} on average.</a:t>
            </a:r>
          </a:p>
          <a:p>
            <a:pPr>
              <a:spcAft>
                <a:spcPts val="1400"/>
              </a:spcAft>
              <a:defRPr sz="2200">
                <a:solidFill>
                  <a:srgbClr val="4A5568"/>
                </a:solidFill>
              </a:defRPr>
            </a:pPr>
            <a:r>
              <a:t>• We managed {{TICKET_COUNT}} total IT events this quarter to keep your business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Business Impact: {{PRODUCTIVITY_HOURS_LOST}} productivity hours at risk | Est. cost: {{ESTIMATED_COST}}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66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</a:defRPr>
            </a:pPr>
            <a:r>
              <a:t>{{RISK_STATEMENT}}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760720"/>
            <a:ext cx="8229600" cy="1097280"/>
          </a:xfrm>
          <a:prstGeom prst="rect">
            <a:avLst/>
          </a:prstGeom>
          <a:solidFill>
            <a:srgbClr val="DBEAFE"/>
          </a:solidFill>
          <a:ln>
            <a:solidFill>
              <a:srgbClr val="242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80644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2E65"/>
                </a:solidFill>
              </a:defRPr>
            </a:pPr>
            <a:r>
              <a:t>Industry Sector: {{BEA_INDUSTRY}}  |  GDP Value Added: {{BEA_LATEST_VALUE}} ({{BEA_LATEST_PERIOD}})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6364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A5568"/>
                </a:solidFill>
              </a:defRPr>
            </a:pPr>
            <a:r>
              <a:t>QoQ Growth: {{BEA_QOQ_GROWTH}}  |  YoY Growth: {{BEA_YOY_GROWTH}}  |  {{BEA_TREND_LABEL}}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42E65"/>
                </a:solidFill>
              </a:defRPr>
            </a:pPr>
            <a:r>
              <a:t>Key Business Impact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42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Same-Day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42E65"/>
                </a:solidFill>
              </a:defRPr>
            </a:pPr>
            <a:r>
              <a:t>{{SAME_DAY_RATE}}%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42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Avg First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42E65"/>
                </a:solidFill>
              </a:defRPr>
            </a:pPr>
            <a:r>
              <a:t>{{AVG_FIRST_RESPONSE}}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42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Critical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42E65"/>
                </a:solidFill>
              </a:defRPr>
            </a:pPr>
            <a:r>
              <a:t>{{CRITICAL_RES_TIME}}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42E65"/>
                </a:solidFill>
              </a:defRPr>
            </a:pPr>
            <a:r>
              <a:t>Support Type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A5568"/>
                </a:solidFill>
              </a:defRPr>
            </a:pPr>
            <a:r>
              <a:t>Proactive Maintenance vs Reactive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A5568"/>
                </a:solidFill>
              </a:defRPr>
            </a:pPr>
            <a:r>
              <a:t>{{CHART_PLACEHOLDER}}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42E65"/>
                </a:solidFill>
              </a:defRPr>
            </a:pPr>
            <a:r>
              <a:t>System Stability (Metric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3200400" cy="18288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Proactive Work</a:t>
            </a:r>
          </a:p>
          <a:p>
            <a:r>
              <a:t>{{PROACTIVE_PERCENT}}%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286000"/>
            <a:ext cx="3200400" cy="1828800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Reactive Issues</a:t>
            </a:r>
          </a:p>
          <a:p>
            <a:r>
              <a:t>{{REACTIVE_PERCENT}}%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A5568"/>
                </a:solidFill>
              </a:defRPr>
            </a:pPr>
            <a:r>
              <a:t>We actively prevent downtime before it impacts your employees. A higher proactive percentage means a more stable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42E65"/>
                </a:solidFill>
              </a:defRPr>
            </a:pPr>
            <a:r>
              <a:t>Responsiveness &amp; Business Continuity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Speed to First Response: {{AVG_FIRST_RESPONSE}}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Same-Day Resolution Rate: {{SAME_DAY_RATE}}%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Critical Crisis Resolution Time: {{CRITICAL_RES_TIME}}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42E65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C2626"/>
                </a:solidFill>
              </a:defRPr>
            </a:pPr>
            <a:r>
              <a:t>Risk Spotlight: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{{TOP_RISK_1}}</a:t>
            </a:r>
          </a:p>
          <a:p>
            <a:pPr>
              <a:defRPr sz="1100">
                <a:solidFill>
                  <a:srgbClr val="4A5568"/>
                </a:solidFill>
              </a:defRPr>
            </a:pPr>
            <a:r>
              <a:t>{{TOP_RISK_2}}</a:t>
            </a:r>
          </a:p>
          <a:p>
            <a:pPr>
              <a:defRPr sz="1100">
                <a:solidFill>
                  <a:srgbClr val="4A5568"/>
                </a:solidFill>
              </a:defRPr>
            </a:pPr>
            <a:r>
              <a:t>{{TOP_RISK_3}}</a:t>
            </a:r>
          </a:p>
        </p:txBody>
      </p:sp>
      <p:sp>
        <p:nvSpPr>
          <p:cNvPr id="5" name="rec_1_circle"/>
          <p:cNvSpPr/>
          <p:nvPr/>
        </p:nvSpPr>
        <p:spPr>
          <a:xfrm>
            <a:off x="457200" y="20116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_1_num"/>
          <p:cNvSpPr txBox="1"/>
          <p:nvPr/>
        </p:nvSpPr>
        <p:spPr>
          <a:xfrm>
            <a:off x="457200" y="20116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ec_1_title"/>
          <p:cNvSpPr txBox="1"/>
          <p:nvPr/>
        </p:nvSpPr>
        <p:spPr>
          <a:xfrm>
            <a:off x="1005840" y="20116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{{REC_1_TITLE}}</a:t>
            </a:r>
          </a:p>
        </p:txBody>
      </p:sp>
      <p:sp>
        <p:nvSpPr>
          <p:cNvPr id="8" name="rec_1_rationale"/>
          <p:cNvSpPr txBox="1"/>
          <p:nvPr/>
        </p:nvSpPr>
        <p:spPr>
          <a:xfrm>
            <a:off x="1005840" y="22037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{{REC_1_RATIONALE}}</a:t>
            </a:r>
          </a:p>
        </p:txBody>
      </p:sp>
      <p:sp>
        <p:nvSpPr>
          <p:cNvPr id="9" name="rec_2_circle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_2_num"/>
          <p:cNvSpPr txBox="1"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rec_2_title"/>
          <p:cNvSpPr txBox="1"/>
          <p:nvPr/>
        </p:nvSpPr>
        <p:spPr>
          <a:xfrm>
            <a:off x="1005840" y="24688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{{REC_2_TITLE}}</a:t>
            </a:r>
          </a:p>
        </p:txBody>
      </p:sp>
      <p:sp>
        <p:nvSpPr>
          <p:cNvPr id="12" name="rec_2_rationale"/>
          <p:cNvSpPr txBox="1"/>
          <p:nvPr/>
        </p:nvSpPr>
        <p:spPr>
          <a:xfrm>
            <a:off x="1005840" y="26609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{{REC_2_RATIONALE}}</a:t>
            </a:r>
          </a:p>
        </p:txBody>
      </p:sp>
      <p:sp>
        <p:nvSpPr>
          <p:cNvPr id="13" name="rec_3_circle"/>
          <p:cNvSpPr/>
          <p:nvPr/>
        </p:nvSpPr>
        <p:spPr>
          <a:xfrm>
            <a:off x="457200" y="29260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_3_num"/>
          <p:cNvSpPr txBox="1"/>
          <p:nvPr/>
        </p:nvSpPr>
        <p:spPr>
          <a:xfrm>
            <a:off x="457200" y="29260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rec_3_title"/>
          <p:cNvSpPr txBox="1"/>
          <p:nvPr/>
        </p:nvSpPr>
        <p:spPr>
          <a:xfrm>
            <a:off x="1005840" y="29260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{{REC_3_TITLE}}</a:t>
            </a:r>
          </a:p>
        </p:txBody>
      </p:sp>
      <p:sp>
        <p:nvSpPr>
          <p:cNvPr id="16" name="rec_3_rationale"/>
          <p:cNvSpPr txBox="1"/>
          <p:nvPr/>
        </p:nvSpPr>
        <p:spPr>
          <a:xfrm>
            <a:off x="1005840" y="31181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{{REC_3_RATIONALE}}</a:t>
            </a:r>
          </a:p>
        </p:txBody>
      </p:sp>
      <p:sp>
        <p:nvSpPr>
          <p:cNvPr id="17" name="rec_4_circle"/>
          <p:cNvSpPr/>
          <p:nvPr/>
        </p:nvSpPr>
        <p:spPr>
          <a:xfrm>
            <a:off x="457200" y="33832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_4_num"/>
          <p:cNvSpPr txBox="1"/>
          <p:nvPr/>
        </p:nvSpPr>
        <p:spPr>
          <a:xfrm>
            <a:off x="457200" y="33832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rec_4_title"/>
          <p:cNvSpPr txBox="1"/>
          <p:nvPr/>
        </p:nvSpPr>
        <p:spPr>
          <a:xfrm>
            <a:off x="1005840" y="33832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{{REC_4_TITLE}}</a:t>
            </a:r>
          </a:p>
        </p:txBody>
      </p:sp>
      <p:sp>
        <p:nvSpPr>
          <p:cNvPr id="20" name="rec_4_rationale"/>
          <p:cNvSpPr txBox="1"/>
          <p:nvPr/>
        </p:nvSpPr>
        <p:spPr>
          <a:xfrm>
            <a:off x="1005840" y="35753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{{REC_4_RATIONALE}}</a:t>
            </a:r>
          </a:p>
        </p:txBody>
      </p:sp>
      <p:sp>
        <p:nvSpPr>
          <p:cNvPr id="21" name="rec_5_circle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_5_num"/>
          <p:cNvSpPr txBox="1"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3" name="rec_5_title"/>
          <p:cNvSpPr txBox="1"/>
          <p:nvPr/>
        </p:nvSpPr>
        <p:spPr>
          <a:xfrm>
            <a:off x="1005840" y="38404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{{REC_5_TITLE}}</a:t>
            </a:r>
          </a:p>
        </p:txBody>
      </p:sp>
      <p:sp>
        <p:nvSpPr>
          <p:cNvPr id="24" name="rec_5_rationale"/>
          <p:cNvSpPr txBox="1"/>
          <p:nvPr/>
        </p:nvSpPr>
        <p:spPr>
          <a:xfrm>
            <a:off x="1005840" y="40325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{{REC_5_RATIONALE}}</a:t>
            </a:r>
          </a:p>
        </p:txBody>
      </p:sp>
      <p:sp>
        <p:nvSpPr>
          <p:cNvPr id="25" name="rec_6_circle"/>
          <p:cNvSpPr/>
          <p:nvPr/>
        </p:nvSpPr>
        <p:spPr>
          <a:xfrm>
            <a:off x="457200" y="42976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_6_num"/>
          <p:cNvSpPr txBox="1"/>
          <p:nvPr/>
        </p:nvSpPr>
        <p:spPr>
          <a:xfrm>
            <a:off x="457200" y="42976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7" name="rec_6_title"/>
          <p:cNvSpPr txBox="1"/>
          <p:nvPr/>
        </p:nvSpPr>
        <p:spPr>
          <a:xfrm>
            <a:off x="1005840" y="42976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{{REC_6_TITLE}}</a:t>
            </a:r>
          </a:p>
        </p:txBody>
      </p:sp>
      <p:sp>
        <p:nvSpPr>
          <p:cNvPr id="28" name="rec_6_rationale"/>
          <p:cNvSpPr txBox="1"/>
          <p:nvPr/>
        </p:nvSpPr>
        <p:spPr>
          <a:xfrm>
            <a:off x="1005840" y="44897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{{REC_6_RATIONALE}}</a:t>
            </a:r>
          </a:p>
        </p:txBody>
      </p:sp>
      <p:sp>
        <p:nvSpPr>
          <p:cNvPr id="29" name="rec_7_circle"/>
          <p:cNvSpPr/>
          <p:nvPr/>
        </p:nvSpPr>
        <p:spPr>
          <a:xfrm>
            <a:off x="457200" y="47548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_7_num"/>
          <p:cNvSpPr txBox="1"/>
          <p:nvPr/>
        </p:nvSpPr>
        <p:spPr>
          <a:xfrm>
            <a:off x="457200" y="47548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1" name="rec_7_title"/>
          <p:cNvSpPr txBox="1"/>
          <p:nvPr/>
        </p:nvSpPr>
        <p:spPr>
          <a:xfrm>
            <a:off x="1005840" y="47548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{{REC_7_TITLE}}</a:t>
            </a:r>
          </a:p>
        </p:txBody>
      </p:sp>
      <p:sp>
        <p:nvSpPr>
          <p:cNvPr id="32" name="rec_7_rationale"/>
          <p:cNvSpPr txBox="1"/>
          <p:nvPr/>
        </p:nvSpPr>
        <p:spPr>
          <a:xfrm>
            <a:off x="1005840" y="49469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{{REC_7_RATIONALE}}</a:t>
            </a:r>
          </a:p>
        </p:txBody>
      </p:sp>
      <p:sp>
        <p:nvSpPr>
          <p:cNvPr id="33" name="rec_8_circle"/>
          <p:cNvSpPr/>
          <p:nvPr/>
        </p:nvSpPr>
        <p:spPr>
          <a:xfrm>
            <a:off x="457200" y="52120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_8_num"/>
          <p:cNvSpPr txBox="1"/>
          <p:nvPr/>
        </p:nvSpPr>
        <p:spPr>
          <a:xfrm>
            <a:off x="457200" y="52120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5" name="rec_8_title"/>
          <p:cNvSpPr txBox="1"/>
          <p:nvPr/>
        </p:nvSpPr>
        <p:spPr>
          <a:xfrm>
            <a:off x="1005840" y="52120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{{REC_8_TITLE}}</a:t>
            </a:r>
          </a:p>
        </p:txBody>
      </p:sp>
      <p:sp>
        <p:nvSpPr>
          <p:cNvPr id="36" name="rec_8_rationale"/>
          <p:cNvSpPr txBox="1"/>
          <p:nvPr/>
        </p:nvSpPr>
        <p:spPr>
          <a:xfrm>
            <a:off x="1005840" y="54041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{{REC_8_RATIONALE}}</a:t>
            </a:r>
          </a:p>
        </p:txBody>
      </p:sp>
      <p:sp>
        <p:nvSpPr>
          <p:cNvPr id="37" name="rec_9_circle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_9_num"/>
          <p:cNvSpPr txBox="1"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9" name="rec_9_title"/>
          <p:cNvSpPr txBox="1"/>
          <p:nvPr/>
        </p:nvSpPr>
        <p:spPr>
          <a:xfrm>
            <a:off x="1005840" y="56692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{{REC_9_TITLE}}</a:t>
            </a:r>
          </a:p>
        </p:txBody>
      </p:sp>
      <p:sp>
        <p:nvSpPr>
          <p:cNvPr id="40" name="rec_9_rationale"/>
          <p:cNvSpPr txBox="1"/>
          <p:nvPr/>
        </p:nvSpPr>
        <p:spPr>
          <a:xfrm>
            <a:off x="1005840" y="58613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{{REC_9_RATIONALE}}</a:t>
            </a:r>
          </a:p>
        </p:txBody>
      </p:sp>
      <p:sp>
        <p:nvSpPr>
          <p:cNvPr id="41" name="rec_10_circle"/>
          <p:cNvSpPr/>
          <p:nvPr/>
        </p:nvSpPr>
        <p:spPr>
          <a:xfrm>
            <a:off x="457200" y="61264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_10_num"/>
          <p:cNvSpPr txBox="1"/>
          <p:nvPr/>
        </p:nvSpPr>
        <p:spPr>
          <a:xfrm>
            <a:off x="457200" y="6126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3" name="rec_10_title"/>
          <p:cNvSpPr txBox="1"/>
          <p:nvPr/>
        </p:nvSpPr>
        <p:spPr>
          <a:xfrm>
            <a:off x="1005840" y="61264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{{REC_10_TITLE}}</a:t>
            </a:r>
          </a:p>
        </p:txBody>
      </p:sp>
      <p:sp>
        <p:nvSpPr>
          <p:cNvPr id="44" name="rec_10_rationale"/>
          <p:cNvSpPr txBox="1"/>
          <p:nvPr/>
        </p:nvSpPr>
        <p:spPr>
          <a:xfrm>
            <a:off x="1005840" y="63185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{{REC_10_RATIONALE}}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42E65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4A5568"/>
                </a:solidFill>
              </a:defRPr>
            </a:pPr>
            <a:r>
              <a:t>Questions? Contact your account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A5568"/>
                </a:solidFill>
              </a:defRPr>
            </a:pPr>
            <a:r>
              <a:t>{{MSP_CONTACT_INFO}}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